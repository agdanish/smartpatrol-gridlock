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F0A9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ECEE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0A9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17C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SmartPatrol model</c:v>
                  </c:pt>
                  <c:pt idx="1">
                    <c:v>Do-nothing baseline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0.797</c:v>
                </c:pt>
                <c:pt idx="1">
                  <c:v>0.711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ECEEF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CEEF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116"/>
        </a:solidFill>
        <a:ln>
          <a:noFill/>
        </a:ln>
        <a:effectLst/>
      </c:spPr>
    </c:plotArea>
    <c:plotVisOnly val="1"/>
    <c:dispBlanksAs val="span"/>
  </c:chart>
  <c:spPr>
    <a:solidFill>
      <a:srgbClr val="0E111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F0A9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CEE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0A9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0A9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8DE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17C9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Full model</c:v>
                  </c:pt>
                  <c:pt idx="1">
                    <c:v>Drop EWMA</c:v>
                  </c:pt>
                  <c:pt idx="2">
                    <c:v>Strip ALL recency</c:v>
                  </c:pt>
                  <c:pt idx="3">
                    <c:v>Baseline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0.797</c:v>
                </c:pt>
                <c:pt idx="1">
                  <c:v>0.798</c:v>
                </c:pt>
                <c:pt idx="2">
                  <c:v>0.774</c:v>
                </c:pt>
                <c:pt idx="3">
                  <c:v>0.711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ECEEF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9AA6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116"/>
        </a:solidFill>
        <a:ln>
          <a:noFill/>
        </a:ln>
        <a:effectLst/>
      </c:spPr>
    </c:plotArea>
    <c:plotVisOnly val="1"/>
    <c:dispBlanksAs val="span"/>
  </c:chart>
  <c:spPr>
    <a:solidFill>
      <a:srgbClr val="0E111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717C9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ECEE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17C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BD8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Rank by volume</c:v>
                  </c:pt>
                  <c:pt idx="1">
                    <c:v>Rank by harm (ours)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32.7</c:v>
                </c:pt>
                <c:pt idx="1">
                  <c:v>47.8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800" u="none">
                  <a:solidFill>
                    <a:srgbClr val="ECEEF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CEEF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116"/>
        </a:solidFill>
        <a:ln>
          <a:noFill/>
        </a:ln>
        <a:effectLst/>
      </c:spPr>
    </c:plotArea>
    <c:plotVisOnly val="1"/>
    <c:dispBlanksAs val="span"/>
  </c:chart>
  <c:spPr>
    <a:solidFill>
      <a:srgbClr val="0E111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70983" y="1592992"/>
            <a:ext cx="221378" cy="126864"/>
          </a:xfrm>
          <a:prstGeom prst="ellipse">
            <a:avLst/>
          </a:prstGeom>
          <a:solidFill>
            <a:srgbClr val="F0A92E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82871" y="1369158"/>
            <a:ext cx="143141" cy="197549"/>
          </a:xfrm>
          <a:prstGeom prst="ellipse">
            <a:avLst/>
          </a:prstGeom>
          <a:solidFill>
            <a:srgbClr val="F0A92E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81559" y="1606238"/>
            <a:ext cx="220797" cy="185185"/>
          </a:xfrm>
          <a:prstGeom prst="ellipse">
            <a:avLst/>
          </a:prstGeom>
          <a:solidFill>
            <a:srgbClr val="F0A92E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561915" y="1648475"/>
            <a:ext cx="220113" cy="186910"/>
          </a:xfrm>
          <a:prstGeom prst="ellipse">
            <a:avLst/>
          </a:prstGeom>
          <a:solidFill>
            <a:srgbClr val="F0A92E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251093" y="1512768"/>
            <a:ext cx="149952" cy="120017"/>
          </a:xfrm>
          <a:prstGeom prst="ellipse">
            <a:avLst/>
          </a:prstGeom>
          <a:solidFill>
            <a:srgbClr val="F0A92E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11968" y="1445636"/>
            <a:ext cx="221279" cy="142889"/>
          </a:xfrm>
          <a:prstGeom prst="ellipse">
            <a:avLst/>
          </a:prstGeom>
          <a:solidFill>
            <a:srgbClr val="5B8DEF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47582" y="1049876"/>
            <a:ext cx="189878" cy="198476"/>
          </a:xfrm>
          <a:prstGeom prst="ellipse">
            <a:avLst/>
          </a:prstGeom>
          <a:solidFill>
            <a:srgbClr val="5B8DEF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41939" y="1205493"/>
            <a:ext cx="182348" cy="176443"/>
          </a:xfrm>
          <a:prstGeom prst="ellipse">
            <a:avLst/>
          </a:prstGeom>
          <a:solidFill>
            <a:srgbClr val="5B8DE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064110" y="1099466"/>
            <a:ext cx="201095" cy="205880"/>
          </a:xfrm>
          <a:prstGeom prst="ellipse">
            <a:avLst/>
          </a:prstGeom>
          <a:solidFill>
            <a:srgbClr val="5B8DEF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934176" y="1176596"/>
            <a:ext cx="154063" cy="122584"/>
          </a:xfrm>
          <a:prstGeom prst="ellipse">
            <a:avLst/>
          </a:prstGeom>
          <a:solidFill>
            <a:srgbClr val="5B8DEF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20420" y="1466448"/>
            <a:ext cx="206164" cy="184623"/>
          </a:xfrm>
          <a:prstGeom prst="ellipse">
            <a:avLst/>
          </a:prstGeom>
          <a:solidFill>
            <a:srgbClr val="2DBD8A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986613" y="1886231"/>
            <a:ext cx="125754" cy="217438"/>
          </a:xfrm>
          <a:prstGeom prst="ellipse">
            <a:avLst/>
          </a:prstGeom>
          <a:solidFill>
            <a:srgbClr val="2DBD8A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84686" y="2033900"/>
            <a:ext cx="146925" cy="180478"/>
          </a:xfrm>
          <a:prstGeom prst="ellipse">
            <a:avLst/>
          </a:prstGeom>
          <a:solidFill>
            <a:srgbClr val="2DBD8A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942136" y="1871272"/>
            <a:ext cx="181472" cy="162532"/>
          </a:xfrm>
          <a:prstGeom prst="ellipse">
            <a:avLst/>
          </a:prstGeom>
          <a:solidFill>
            <a:srgbClr val="2DBD8A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43028" y="1951711"/>
            <a:ext cx="176612" cy="174829"/>
          </a:xfrm>
          <a:prstGeom prst="ellipse">
            <a:avLst/>
          </a:prstGeom>
          <a:solidFill>
            <a:srgbClr val="2DBD8A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73530" y="2481558"/>
            <a:ext cx="214488" cy="132605"/>
          </a:xfrm>
          <a:prstGeom prst="ellipse">
            <a:avLst/>
          </a:prstGeom>
          <a:solidFill>
            <a:srgbClr val="A78BFA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820886" y="1707651"/>
            <a:ext cx="221074" cy="149492"/>
          </a:xfrm>
          <a:prstGeom prst="ellipse">
            <a:avLst/>
          </a:prstGeom>
          <a:solidFill>
            <a:srgbClr val="A78BFA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71753" y="1734572"/>
            <a:ext cx="219906" cy="185646"/>
          </a:xfrm>
          <a:prstGeom prst="ellipse">
            <a:avLst/>
          </a:prstGeom>
          <a:solidFill>
            <a:srgbClr val="A78BFA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48883" y="2025396"/>
            <a:ext cx="225793" cy="165585"/>
          </a:xfrm>
          <a:prstGeom prst="ellipse">
            <a:avLst/>
          </a:prstGeom>
          <a:solidFill>
            <a:srgbClr val="A78BFA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351715" y="2623734"/>
            <a:ext cx="156132" cy="145299"/>
          </a:xfrm>
          <a:prstGeom prst="ellipse">
            <a:avLst/>
          </a:prstGeom>
          <a:solidFill>
            <a:srgbClr val="A78BFA">
              <a:alpha val="7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334907" y="2726370"/>
            <a:ext cx="142091" cy="148393"/>
          </a:xfrm>
          <a:prstGeom prst="ellipse">
            <a:avLst/>
          </a:prstGeom>
          <a:solidFill>
            <a:srgbClr val="3FB6C4">
              <a:alpha val="7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719871" y="2832916"/>
            <a:ext cx="138019" cy="182497"/>
          </a:xfrm>
          <a:prstGeom prst="ellipse">
            <a:avLst/>
          </a:prstGeom>
          <a:solidFill>
            <a:srgbClr val="3FB6C4">
              <a:alpha val="7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427421" y="2902597"/>
            <a:ext cx="159716" cy="193298"/>
          </a:xfrm>
          <a:prstGeom prst="ellipse">
            <a:avLst/>
          </a:prstGeom>
          <a:solidFill>
            <a:srgbClr val="3FB6C4">
              <a:alpha val="7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135508" y="2422204"/>
            <a:ext cx="120015" cy="221016"/>
          </a:xfrm>
          <a:prstGeom prst="ellipse">
            <a:avLst/>
          </a:prstGeom>
          <a:solidFill>
            <a:srgbClr val="3FB6C4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426964" y="2620342"/>
            <a:ext cx="183756" cy="224688"/>
          </a:xfrm>
          <a:prstGeom prst="ellipse">
            <a:avLst/>
          </a:prstGeom>
          <a:solidFill>
            <a:srgbClr val="3FB6C4">
              <a:alpha val="7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90502" y="2472295"/>
            <a:ext cx="207597" cy="194219"/>
          </a:xfrm>
          <a:prstGeom prst="ellipse">
            <a:avLst/>
          </a:prstGeom>
          <a:solidFill>
            <a:srgbClr val="E98AA6">
              <a:alpha val="7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220424" y="2481205"/>
            <a:ext cx="186103" cy="219897"/>
          </a:xfrm>
          <a:prstGeom prst="ellipse">
            <a:avLst/>
          </a:prstGeom>
          <a:solidFill>
            <a:srgbClr val="E98AA6">
              <a:alpha val="7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696760" y="2766608"/>
            <a:ext cx="147733" cy="129471"/>
          </a:xfrm>
          <a:prstGeom prst="ellipse">
            <a:avLst/>
          </a:prstGeom>
          <a:solidFill>
            <a:srgbClr val="E98AA6">
              <a:alpha val="7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842649" y="2321029"/>
            <a:ext cx="160122" cy="129881"/>
          </a:xfrm>
          <a:prstGeom prst="ellipse">
            <a:avLst/>
          </a:prstGeom>
          <a:solidFill>
            <a:srgbClr val="E98AA6">
              <a:alpha val="7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868262" y="2808749"/>
            <a:ext cx="183212" cy="128478"/>
          </a:xfrm>
          <a:prstGeom prst="ellipse">
            <a:avLst/>
          </a:prstGeom>
          <a:solidFill>
            <a:srgbClr val="E98AA6">
              <a:alpha val="7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</a:t>
            </a:r>
            <a:endParaRPr lang="en-US" sz="6000" dirty="0"/>
          </a:p>
        </p:txBody>
      </p:sp>
      <p:sp>
        <p:nvSpPr>
          <p:cNvPr id="33" name="Text 31"/>
          <p:cNvSpPr/>
          <p:nvPr/>
        </p:nvSpPr>
        <p:spPr>
          <a:xfrm>
            <a:off x="640080" y="3154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Enforcement Deployment Brain — for Bengaluru Traffic Police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64008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298,450 real BTP records </a:t>
            </a:r>
            <a:pPr indent="0" marL="0">
              <a:buNone/>
            </a:pPr>
            <a:r>
              <a:rPr lang="en-US" sz="15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tomorrow's patrol plan.  Sensor-free.  Audit-grade.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Gridlock Hackathon 2.0   ·   Phase 2 / 3   ·   Live: smartpatrol-danish-3909s-projects.vercel.app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police patrol today is mostly a guess.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police can't be everywhere. The cost of guessing wrong isn't a missed ticket —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blocked footpath outside a school.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Meanwhile, the data to fix it already exists — and sits unused.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2011680"/>
            <a:ext cx="1417320" cy="1783080"/>
          </a:xfrm>
          <a:prstGeom prst="roundRect">
            <a:avLst>
              <a:gd name="adj" fmla="val 5806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52360" y="217627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298,450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543800" y="30358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43800" y="33832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BTP records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961120" y="2011680"/>
            <a:ext cx="1417320" cy="1783080"/>
          </a:xfrm>
          <a:prstGeom prst="roundRect">
            <a:avLst>
              <a:gd name="adj" fmla="val 5806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06840" y="217627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098280" y="30358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098280" y="33832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Bengaluru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0" y="2011680"/>
            <a:ext cx="1143000" cy="1783080"/>
          </a:xfrm>
          <a:prstGeom prst="roundRect">
            <a:avLst>
              <a:gd name="adj" fmla="val 7200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61320" y="2176272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5,796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10652760" y="30358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652760" y="33832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 m cells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 turns that existing data into a deployable 8 AM patrol plan — with no new hardware and no new data collection.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  ·  Gridlock Hackathon 2.0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zero geography, the data drew its own map.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04317" y="3171317"/>
            <a:ext cx="245047" cy="203995"/>
          </a:xfrm>
          <a:prstGeom prst="ellipse">
            <a:avLst/>
          </a:prstGeom>
          <a:solidFill>
            <a:srgbClr val="F0A92E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07101" y="2692088"/>
            <a:ext cx="174529" cy="191029"/>
          </a:xfrm>
          <a:prstGeom prst="ellipse">
            <a:avLst/>
          </a:prstGeom>
          <a:solidFill>
            <a:srgbClr val="F0A92E">
              <a:alpha val="8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314691" y="2844328"/>
            <a:ext cx="166004" cy="285644"/>
          </a:xfrm>
          <a:prstGeom prst="ellipse">
            <a:avLst/>
          </a:prstGeom>
          <a:solidFill>
            <a:srgbClr val="F0A92E">
              <a:alpha val="8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589465" y="2920133"/>
            <a:ext cx="165199" cy="292411"/>
          </a:xfrm>
          <a:prstGeom prst="ellipse">
            <a:avLst/>
          </a:prstGeom>
          <a:solidFill>
            <a:srgbClr val="F0A92E">
              <a:alpha val="8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81449" y="3171195"/>
            <a:ext cx="172241" cy="167396"/>
          </a:xfrm>
          <a:prstGeom prst="ellipse">
            <a:avLst/>
          </a:prstGeom>
          <a:solidFill>
            <a:srgbClr val="F0A92E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265730" y="3238960"/>
            <a:ext cx="155761" cy="205265"/>
          </a:xfrm>
          <a:prstGeom prst="ellipse">
            <a:avLst/>
          </a:prstGeom>
          <a:solidFill>
            <a:srgbClr val="F0A92E">
              <a:alpha val="8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19620" y="2372449"/>
            <a:ext cx="257956" cy="194279"/>
          </a:xfrm>
          <a:prstGeom prst="ellipse">
            <a:avLst/>
          </a:prstGeom>
          <a:solidFill>
            <a:srgbClr val="5B8DEF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09855" y="2092546"/>
            <a:ext cx="173956" cy="280860"/>
          </a:xfrm>
          <a:prstGeom prst="ellipse">
            <a:avLst/>
          </a:prstGeom>
          <a:solidFill>
            <a:srgbClr val="5B8DEF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171195" y="2587529"/>
            <a:ext cx="174500" cy="239118"/>
          </a:xfrm>
          <a:prstGeom prst="ellipse">
            <a:avLst/>
          </a:prstGeom>
          <a:solidFill>
            <a:srgbClr val="5B8DEF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54984" y="2045693"/>
            <a:ext cx="194164" cy="190934"/>
          </a:xfrm>
          <a:prstGeom prst="ellipse">
            <a:avLst/>
          </a:prstGeom>
          <a:solidFill>
            <a:srgbClr val="5B8DEF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259927" y="1821544"/>
            <a:ext cx="279571" cy="150086"/>
          </a:xfrm>
          <a:prstGeom prst="ellipse">
            <a:avLst/>
          </a:prstGeom>
          <a:solidFill>
            <a:srgbClr val="5B8DEF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837764" y="1735144"/>
            <a:ext cx="150560" cy="284048"/>
          </a:xfrm>
          <a:prstGeom prst="ellipse">
            <a:avLst/>
          </a:prstGeom>
          <a:solidFill>
            <a:srgbClr val="5B8DEF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802667" y="3200666"/>
            <a:ext cx="185554" cy="208974"/>
          </a:xfrm>
          <a:prstGeom prst="ellipse">
            <a:avLst/>
          </a:prstGeom>
          <a:solidFill>
            <a:srgbClr val="2DBD8A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649640" y="2915510"/>
            <a:ext cx="255473" cy="233304"/>
          </a:xfrm>
          <a:prstGeom prst="ellipse">
            <a:avLst/>
          </a:prstGeom>
          <a:solidFill>
            <a:srgbClr val="2DBD8A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378084" y="2691128"/>
            <a:ext cx="168129" cy="221587"/>
          </a:xfrm>
          <a:prstGeom prst="ellipse">
            <a:avLst/>
          </a:prstGeom>
          <a:solidFill>
            <a:srgbClr val="2DBD8A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981423" y="2712522"/>
            <a:ext cx="282863" cy="157807"/>
          </a:xfrm>
          <a:prstGeom prst="ellipse">
            <a:avLst/>
          </a:prstGeom>
          <a:solidFill>
            <a:srgbClr val="2DBD8A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289348" y="2864599"/>
            <a:ext cx="179781" cy="253463"/>
          </a:xfrm>
          <a:prstGeom prst="ellipse">
            <a:avLst/>
          </a:prstGeom>
          <a:solidFill>
            <a:srgbClr val="2DBD8A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012168" y="3344535"/>
            <a:ext cx="272442" cy="244783"/>
          </a:xfrm>
          <a:prstGeom prst="ellipse">
            <a:avLst/>
          </a:prstGeom>
          <a:solidFill>
            <a:srgbClr val="2DBD8A">
              <a:alpha val="8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341483" y="3621138"/>
            <a:ext cx="175435" cy="192104"/>
          </a:xfrm>
          <a:prstGeom prst="ellipse">
            <a:avLst/>
          </a:prstGeom>
          <a:solidFill>
            <a:srgbClr val="A78BFA">
              <a:alpha val="8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103465" y="3310382"/>
            <a:ext cx="195930" cy="290801"/>
          </a:xfrm>
          <a:prstGeom prst="ellipse">
            <a:avLst/>
          </a:prstGeom>
          <a:solidFill>
            <a:srgbClr val="A78BFA">
              <a:alpha val="8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88250" y="3722538"/>
            <a:ext cx="166367" cy="267088"/>
          </a:xfrm>
          <a:prstGeom prst="ellipse">
            <a:avLst/>
          </a:prstGeom>
          <a:solidFill>
            <a:srgbClr val="A78BFA">
              <a:alpha val="8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797737" y="3772680"/>
            <a:ext cx="268583" cy="194177"/>
          </a:xfrm>
          <a:prstGeom prst="ellipse">
            <a:avLst/>
          </a:prstGeom>
          <a:solidFill>
            <a:srgbClr val="A78BFA">
              <a:alpha val="8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029527" y="3685343"/>
            <a:ext cx="262058" cy="256869"/>
          </a:xfrm>
          <a:prstGeom prst="ellipse">
            <a:avLst/>
          </a:prstGeom>
          <a:solidFill>
            <a:srgbClr val="A78BFA">
              <a:alpha val="8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73060" y="3538931"/>
            <a:ext cx="289610" cy="256079"/>
          </a:xfrm>
          <a:prstGeom prst="ellipse">
            <a:avLst/>
          </a:prstGeom>
          <a:solidFill>
            <a:srgbClr val="A78BFA">
              <a:alpha val="8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101172" y="3524409"/>
            <a:ext cx="237522" cy="228381"/>
          </a:xfrm>
          <a:prstGeom prst="ellipse">
            <a:avLst/>
          </a:prstGeom>
          <a:solidFill>
            <a:srgbClr val="3FB6C4">
              <a:alpha val="8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160411" y="3942634"/>
            <a:ext cx="201453" cy="255973"/>
          </a:xfrm>
          <a:prstGeom prst="ellipse">
            <a:avLst/>
          </a:prstGeom>
          <a:solidFill>
            <a:srgbClr val="3FB6C4">
              <a:alpha val="8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744411" y="4019949"/>
            <a:ext cx="231532" cy="273172"/>
          </a:xfrm>
          <a:prstGeom prst="ellipse">
            <a:avLst/>
          </a:prstGeom>
          <a:solidFill>
            <a:srgbClr val="3FB6C4">
              <a:alpha val="8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48043" y="3745416"/>
            <a:ext cx="262240" cy="181673"/>
          </a:xfrm>
          <a:prstGeom prst="ellipse">
            <a:avLst/>
          </a:prstGeom>
          <a:solidFill>
            <a:srgbClr val="3FB6C4">
              <a:alpha val="8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369676" y="3633770"/>
            <a:ext cx="290357" cy="213771"/>
          </a:xfrm>
          <a:prstGeom prst="ellipse">
            <a:avLst/>
          </a:prstGeom>
          <a:solidFill>
            <a:srgbClr val="3FB6C4">
              <a:alpha val="8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746891" y="3990857"/>
            <a:ext cx="200881" cy="284238"/>
          </a:xfrm>
          <a:prstGeom prst="ellipse">
            <a:avLst/>
          </a:prstGeom>
          <a:solidFill>
            <a:srgbClr val="3FB6C4">
              <a:alpha val="8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271641" y="2997626"/>
            <a:ext cx="161236" cy="161839"/>
          </a:xfrm>
          <a:prstGeom prst="ellipse">
            <a:avLst/>
          </a:prstGeom>
          <a:solidFill>
            <a:srgbClr val="E98AA6">
              <a:alpha val="8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261048" y="3747846"/>
            <a:ext cx="269703" cy="219292"/>
          </a:xfrm>
          <a:prstGeom prst="ellipse">
            <a:avLst/>
          </a:prstGeom>
          <a:solidFill>
            <a:srgbClr val="E98AA6">
              <a:alpha val="8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158727" y="3088602"/>
            <a:ext cx="250450" cy="212909"/>
          </a:xfrm>
          <a:prstGeom prst="ellipse">
            <a:avLst/>
          </a:prstGeom>
          <a:solidFill>
            <a:srgbClr val="E98AA6">
              <a:alpha val="8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439808" y="3211434"/>
            <a:ext cx="212666" cy="212941"/>
          </a:xfrm>
          <a:prstGeom prst="ellipse">
            <a:avLst/>
          </a:prstGeom>
          <a:solidFill>
            <a:srgbClr val="E98AA6">
              <a:alpha val="8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159982" y="3708366"/>
            <a:ext cx="174327" cy="237193"/>
          </a:xfrm>
          <a:prstGeom prst="ellipse">
            <a:avLst/>
          </a:prstGeom>
          <a:solidFill>
            <a:srgbClr val="E98AA6">
              <a:alpha val="8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1399582" y="3554030"/>
            <a:ext cx="279653" cy="264724"/>
          </a:xfrm>
          <a:prstGeom prst="ellipse">
            <a:avLst/>
          </a:prstGeom>
          <a:solidFill>
            <a:srgbClr val="E98AA6">
              <a:alpha val="8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95528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rings · zero geo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20116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fed it only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got ticketed, and when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coordinates, no map. It self-organised into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enforcement rings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snap onto Bengaluru's real geography.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640080" y="4023360"/>
            <a:ext cx="187452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5800" y="418795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4.8</a:t>
            </a:r>
            <a:endParaRPr lang="en-US" sz="2500" dirty="0"/>
          </a:p>
        </p:txBody>
      </p:sp>
      <p:sp>
        <p:nvSpPr>
          <p:cNvPr id="44" name="Text 42"/>
          <p:cNvSpPr/>
          <p:nvPr/>
        </p:nvSpPr>
        <p:spPr>
          <a:xfrm>
            <a:off x="777240" y="50474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statistically real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77240" y="5394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degree-preserving null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97480" y="4023360"/>
            <a:ext cx="187452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743200" y="418795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1.79×</a:t>
            </a:r>
            <a:endParaRPr lang="en-US" sz="3100" dirty="0"/>
          </a:p>
        </p:txBody>
      </p:sp>
      <p:sp>
        <p:nvSpPr>
          <p:cNvPr id="48" name="Text 46"/>
          <p:cNvSpPr/>
          <p:nvPr/>
        </p:nvSpPr>
        <p:spPr>
          <a:xfrm>
            <a:off x="2834640" y="50474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tighter than chance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2834640" y="5394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 km vs 10.2 km apart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4023360"/>
            <a:ext cx="182880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800600" y="418795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B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</a:t>
            </a:r>
            <a:endParaRPr lang="en-US" sz="3800" dirty="0"/>
          </a:p>
        </p:txBody>
      </p:sp>
      <p:sp>
        <p:nvSpPr>
          <p:cNvPr id="52" name="Text 50"/>
          <p:cNvSpPr/>
          <p:nvPr/>
        </p:nvSpPr>
        <p:spPr>
          <a:xfrm>
            <a:off x="4892040" y="50474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modularity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4892040" y="5394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communities found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  ·  Gridlock Hackathon 2.0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0642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predicts where violations cluster next.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0312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2286000"/>
            <a:ext cx="224028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60920" y="24505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452360" y="33101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AUC, out-of-time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52360" y="3657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on weeks it never saw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646920" y="2286000"/>
            <a:ext cx="187452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92640" y="245059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0.79–0.80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784080" y="33101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784080" y="3657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1,000-sample bootstrap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the first weeks, scored on the last — a real out-of-time test, not a fit to its own data. It beats the do-nothing baseline by a clear, bootstrap-confirmed margin.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  ·  Gridlock Hackathon 2.0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642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knows what it doesn't know.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model isn't confident, it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declines to call a corner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rather than guess. A conformal abstention layer with a distribution-free guarantee.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06640" y="1965960"/>
            <a:ext cx="201168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52360" y="21305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9,667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543800" y="2990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corner-weeks declined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43800" y="3337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abstains rather than guess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555480" y="1965960"/>
            <a:ext cx="196596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0" y="213055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DB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10%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9692640" y="29900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miss rate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92640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7.6% out-of-time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answer to the predictive-policing critique.  </a:t>
            </a:r>
            <a:pPr indent="0" marL="0">
              <a:buNone/>
            </a:pPr>
            <a:r>
              <a:rPr lang="en-US" sz="15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 scores PLACES, never individuals.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  ·  Gridlock Hackathon 2.0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642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“just recency” — we tested it.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0312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24688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out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recency feature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it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scores 0.77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beating the baseline by +0.06.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89520" y="41148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captures real structure — not just “busy stays busy.”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  ·  Gridlock Hackathon 2.0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642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safer city is a re-ranking away.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0312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2194560"/>
            <a:ext cx="210312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269480" y="235915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DB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+15.1 pp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360920" y="3218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pedestrian-safety coverage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6092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footpaths · schools · crossings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464040" y="2194560"/>
            <a:ext cx="205740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509760" y="235915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9601200" y="32186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cost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0" y="3566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142 corners, same officers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Re-rank the same plan by pedestrian harm instead of raw volume — coverage of footpaths, school-gates and crossings jumps 32.7% → 47.8%, and holds out-of-time at 46.4%. (Labeled rows.)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  ·  Gridlock Hackathon 2.0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642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Illegal main-road parking IS the congestion.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parking → congestion mechanism is right in the data —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feeds, no Theme-2 dataset.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74320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309067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3950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main-road parking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direct congestion cause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2926080"/>
            <a:ext cx="274320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309067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749040" y="3950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offenders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4904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≥80% at ONE corner — junctions choked again and again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2926080"/>
            <a:ext cx="274320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309067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B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720840" y="3950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PEHI harm weight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2084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main-road corners top the plan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 already prioritises the corners that cause congestion — and surfaces the repeat vehicles choking them.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  ·  Gridlock Hackathon 2.0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reproduces by one command.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37744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45059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DB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33101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claims verified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regenerated from the raw CSV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2286000"/>
            <a:ext cx="822960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B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src/verify_headlines.py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971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from BTP's own 298,450 rows.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caveats shown up front, with a visible measured-vs-estimated seam. A tool the police act on has to be auditable, not just impressive.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 is our strongest differentiator — and the first thing a government buyer's review demands.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  ·  Gridlock Hackathon 2.0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642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Sensor-free. ₹0 capex. Ships on owned data.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28600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5915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3218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cost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cameras, no hardware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2194560"/>
            <a:ext cx="228600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235915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s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246120" y="3218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batch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4612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laptop BTP owns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2194560"/>
            <a:ext cx="228600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23560" y="235915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B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AM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715000" y="3218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constable's desk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15000" y="3566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printed duty sheet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1E232C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297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 export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27248" y="42976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383280" y="429768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1E232C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4297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batch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70448" y="42976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26480" y="429768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1E232C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0" y="4297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plan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13648" y="42976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869680" y="429768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1E232C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961120" y="4297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AM duty sheet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AI on the street — a nightly batch turns BTP's own export into tomorrow's plan. Crash-proof: nothing computes during the demo.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  ·  Gridlock Hackathon 2.0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station → all 54 → any city.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29184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54203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→ ∞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77240" y="3401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stations, ₹0 marginal cost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already covers all of Bengaluru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2377440"/>
            <a:ext cx="329184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60520" y="254203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columns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251960" y="3401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portable data contract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5196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city with parking data maps 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80960" y="2377440"/>
            <a:ext cx="329184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26680" y="254203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DB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73.9%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7818120" y="3401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into the next period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1812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you deploy Monday is still right next month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Generalises across time (out-of-time backtest) and place (6 rings from zero geo) — what works for Bengaluru ships to any Indian city.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  ·  Gridlock Hackathon 2.0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 owns it. No vendor lock-in.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29184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45059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25.2×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7724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targeting than random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top-100 corners hold 43.5% of violations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2286000"/>
            <a:ext cx="329184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60520" y="245059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 salary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25196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run-cost / year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5196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constable's pay, not a SaaS bill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80960" y="2286000"/>
            <a:ext cx="3291840" cy="1783080"/>
          </a:xfrm>
          <a:prstGeom prst="roundRect">
            <a:avLst>
              <a:gd name="adj" fmla="val 4615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26680" y="245059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B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781812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by BTP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18120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city keeps the IP, sensor-free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subscription — owned, auditable infrastructure. The value is ownership and zero lock-in, not recurring licence fees.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  ·  Gridlock Hackathon 2.0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don't claim.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143000"/>
          </a:xfrm>
          <a:prstGeom prst="roundRect">
            <a:avLst>
              <a:gd name="adj" fmla="val 7200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942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Recency-dominated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3347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EWMA carries most of the weight — but it holds at 0.77 with recency stripped out, +0.06 over baseline.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0881360" cy="1143000"/>
          </a:xfrm>
          <a:prstGeom prst="roundRect">
            <a:avLst>
              <a:gd name="adj" fmla="val 7200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575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Labeled-proxy safety lift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959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Pedestrian-class labels exist on ~10% of rows, so the 32.7→47.8% lift is on labeled rows, not a city-wide measured outcome.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754880"/>
            <a:ext cx="10881360" cy="1143000"/>
          </a:xfrm>
          <a:prstGeom prst="roundRect">
            <a:avLst>
              <a:gd name="adj" fmla="val 7200"/>
            </a:avLst>
          </a:prstGeom>
          <a:solidFill>
            <a:srgbClr val="171B22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90118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Places, not people. No pilot yet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285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score corners, never individuals, and we have no live-pilot outcome data — a pilot is proposed, not claimed.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We'd rather be auditable than impressive. Naming the limits is the trust signal.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SmartPatrol  ·  Gridlock Hackathon 2.0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642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was always there.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 city can act on it.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420624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E232C"/>
          </a:solidFill>
          <a:ln w="12700">
            <a:solidFill>
              <a:srgbClr val="2A2F3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0.80</a:t>
            </a:r>
            <a:pPr algn="ctr" indent="0" marL="0">
              <a:buNone/>
            </a:pPr>
            <a:r>
              <a:rPr lang="en-US" sz="17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ctr" indent="0" marL="0">
              <a:buNone/>
            </a:pPr>
            <a:r>
              <a:rPr lang="en-US" sz="17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4.8</a:t>
            </a:r>
            <a:pPr algn="ctr" indent="0" marL="0">
              <a:buNone/>
            </a:pPr>
            <a:r>
              <a:rPr lang="en-US" sz="17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ctr" indent="0" marL="0">
              <a:buNone/>
            </a:pPr>
            <a:r>
              <a:rPr lang="en-US" sz="1700" b="1" dirty="0">
                <a:solidFill>
                  <a:srgbClr val="2DB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47.8% ped-safety</a:t>
            </a:r>
            <a:pPr algn="ctr" indent="0" marL="0">
              <a:buNone/>
            </a:pPr>
            <a:r>
              <a:rPr lang="en-US" sz="17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ctr" indent="0" marL="0">
              <a:buNone/>
            </a:pPr>
            <a:r>
              <a:rPr lang="en-US" sz="1700" b="1" dirty="0">
                <a:solidFill>
                  <a:srgbClr val="F0A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capex</a:t>
            </a:r>
            <a:pPr algn="ctr" indent="0" marL="0">
              <a:buNone/>
            </a:pPr>
            <a:r>
              <a:rPr lang="en-US" sz="1700" dirty="0">
                <a:solidFill>
                  <a:srgbClr val="717C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ctr" indent="0" marL="0">
              <a:buNone/>
            </a:pPr>
            <a:r>
              <a:rPr lang="en-US" sz="1700" b="1" dirty="0">
                <a:solidFill>
                  <a:srgbClr val="2DB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15/15 reproducible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Sensor-free.  Reproducible.  And it knows when to stay silent.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smartpatrol-danish-3909s-projects.vercel.app/app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SmartPatrol — Gridlock Hackathon 2.0</dc:title>
  <dc:subject>PptxGenJS Presentation</dc:subject>
  <dc:creator>SmartPatrol</dc:creator>
  <cp:lastModifiedBy>SmartPatrol</cp:lastModifiedBy>
  <cp:revision>1</cp:revision>
  <dcterms:created xsi:type="dcterms:W3CDTF">2026-06-21T15:59:43Z</dcterms:created>
  <dcterms:modified xsi:type="dcterms:W3CDTF">2026-06-21T15:59:43Z</dcterms:modified>
</cp:coreProperties>
</file>